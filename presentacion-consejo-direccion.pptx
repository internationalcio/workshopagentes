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S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A31F3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  ·  IA Agéntica para la Transformación Empresarial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PROFESSIONAL EDUCATION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15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Agéntica para la
</a:t>
            </a:r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Empresarial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822960" y="4572000"/>
            <a:ext cx="502920" cy="64008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754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teoría a producción en cuatro semanas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5486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para el Consejo de Dirección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 Ángel Sánchez Rodriguez  ·  Mayo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POR QUÉ AHORA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agéntica deja de ser experimento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" cy="4572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86000"/>
            <a:ext cx="137160" cy="13716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94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ya son baratos y rápidos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 cuesta $1 / millón de tokens de entrada y responde en segundos. Antes era inviable; hoy es trivial.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137160" cy="13716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611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ya está hecha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0690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+ Railway + Anthropic SDK reducen el time-to-market de semanas a horas. Sin servidores que mantener.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5120640"/>
            <a:ext cx="137160" cy="13716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029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coste de no actuar &gt; el coste de actuar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54864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trimestre de espera son competidores que aprenden, contratan y se diferencian con esta tecnología.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63840" y="2194560"/>
            <a:ext cx="3657600" cy="3200400"/>
          </a:xfrm>
          <a:prstGeom prst="rect">
            <a:avLst/>
          </a:prstGeom>
          <a:solidFill>
            <a:srgbClr val="F5E6EA"/>
          </a:solidFill>
          <a:ln w="12700">
            <a:solidFill>
              <a:srgbClr val="F5E6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25603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$0,001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7863840" y="41148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por consulta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cacheada al modelo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63840" y="4846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cacheo del corpus, una décima de céntimo por respuesta.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LO QUE HEMOS DEMOSTRADO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agéntico, ya en producción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" cy="4572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diapositiva. Está vivo en internet ahora mismo: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31F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internationalcio.github.io/workshopagentes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2697480" cy="2468880"/>
          </a:xfrm>
          <a:prstGeom prst="rect">
            <a:avLst/>
          </a:prstGeom>
          <a:solidFill>
            <a:srgbClr val="FAFAF7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520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68680" y="3977640"/>
            <a:ext cx="365760" cy="36576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114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orquestadorAgent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5720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el mensaje del usuario y decide quién responde.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3383280"/>
            <a:ext cx="2697480" cy="2468880"/>
          </a:xfrm>
          <a:prstGeom prst="rect">
            <a:avLst/>
          </a:prstGeom>
          <a:solidFill>
            <a:srgbClr val="FAFAF7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3520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657600" y="3977640"/>
            <a:ext cx="365760" cy="36576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4114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MatematicasAgente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11880" y="45720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cuentas básicas. Comandos y lenguaje natural.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383280"/>
            <a:ext cx="2697480" cy="2468880"/>
          </a:xfrm>
          <a:prstGeom prst="rect">
            <a:avLst/>
          </a:prstGeom>
          <a:solidFill>
            <a:srgbClr val="FAFAF7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520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446520" y="3977640"/>
            <a:ext cx="365760" cy="36576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114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modeloAgente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45720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a Claude Haiku 4.5 con corpus restringido + cacheo.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06840" y="3383280"/>
            <a:ext cx="2697480" cy="2468880"/>
          </a:xfrm>
          <a:prstGeom prst="rect">
            <a:avLst/>
          </a:prstGeom>
          <a:solidFill>
            <a:srgbClr val="FAFAF7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9720" y="3520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235440" y="3977640"/>
            <a:ext cx="365760" cy="36576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9720" y="4114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corpusAgente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89720" y="45720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 el conocimiento de empresa al modelo.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Construido en cuatro sesiones de Office Hours, en directo, con Claude Code como copiloto. Sin escribir código a mano.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ARQUITECTURA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Profesional, simple, escalable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" cy="4572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377440"/>
            <a:ext cx="3291840" cy="2103120"/>
          </a:xfrm>
          <a:prstGeom prst="rect">
            <a:avLst/>
          </a:prstGeom>
          <a:solidFill>
            <a:srgbClr val="FAFAF7"/>
          </a:solidFill>
          <a:ln w="19050">
            <a:solidFill>
              <a:srgbClr val="A3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60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del usuario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JS vanilla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secretos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2377440"/>
            <a:ext cx="3291840" cy="2103120"/>
          </a:xfrm>
          <a:prstGeom prst="rect">
            <a:avLst/>
          </a:prstGeom>
          <a:solidFill>
            <a:srgbClr val="FAFAF7"/>
          </a:solidFill>
          <a:ln w="19050">
            <a:solidFill>
              <a:srgbClr val="A31F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560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3017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Node + Express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33832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modeloAgente + corpusAgente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en env var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2377440"/>
            <a:ext cx="3291840" cy="2103120"/>
          </a:xfrm>
          <a:prstGeom prst="rect">
            <a:avLst/>
          </a:prstGeom>
          <a:solidFill>
            <a:srgbClr val="FAFAF7"/>
          </a:solidFill>
          <a:ln w="19050">
            <a:solidFill>
              <a:srgbClr val="A31F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560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21040" y="3017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externo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1040" y="33832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Haiku 4.5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Vía SDK oficial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cache_control activo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6809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patrones estándar de la industria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212080"/>
            <a:ext cx="2697480" cy="822960"/>
          </a:xfrm>
          <a:prstGeom prst="rect">
            <a:avLst/>
          </a:prstGeom>
          <a:solidFill>
            <a:srgbClr val="F5E6EA"/>
          </a:solidFill>
          <a:ln w="12700">
            <a:solidFill>
              <a:srgbClr val="F5E6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349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cliente/servidor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29000" y="5212080"/>
            <a:ext cx="2697480" cy="822960"/>
          </a:xfrm>
          <a:prstGeom prst="rect">
            <a:avLst/>
          </a:prstGeom>
          <a:solidFill>
            <a:srgbClr val="F5E6EA"/>
          </a:solidFill>
          <a:ln w="12700">
            <a:solidFill>
              <a:srgbClr val="F5E6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5349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con corpus restringido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5212080"/>
            <a:ext cx="2697480" cy="822960"/>
          </a:xfrm>
          <a:prstGeom prst="rect">
            <a:avLst/>
          </a:prstGeom>
          <a:solidFill>
            <a:srgbClr val="F5E6EA"/>
          </a:solidFill>
          <a:ln w="12700">
            <a:solidFill>
              <a:srgbClr val="F5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5349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 (cache_control)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006840" y="5212080"/>
            <a:ext cx="2697480" cy="822960"/>
          </a:xfrm>
          <a:prstGeom prst="rect">
            <a:avLst/>
          </a:prstGeom>
          <a:solidFill>
            <a:srgbClr val="F5E6EA"/>
          </a:solidFill>
          <a:ln w="12700">
            <a:solidFill>
              <a:srgbClr val="F5E6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0" y="5349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multi-agente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LOS NÚMEROS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cuesta y lo que ahorra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" cy="4572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402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real medido (Haiku 4.5, corpus ~6K tokens)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6858000" cy="457200"/>
          </a:xfrm>
          <a:prstGeom prst="rect">
            <a:avLst/>
          </a:prstGeom>
          <a:solidFill>
            <a:srgbClr val="FAFA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743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por consulta cacheada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0" y="2743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$0,001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60720" y="2743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 céntimos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6858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consultas / hora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23360" y="3246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$0,10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60720" y="3246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céntimos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6858000" cy="457200"/>
          </a:xfrm>
          <a:prstGeom prst="rect">
            <a:avLst/>
          </a:prstGeom>
          <a:solidFill>
            <a:srgbClr val="FAFA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749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consultas / día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23360" y="3749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60720" y="3749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dólar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251960"/>
            <a:ext cx="6858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251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10.000 consultas / día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23360" y="4251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760720" y="4251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dólares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0" y="2286000"/>
            <a:ext cx="3291840" cy="3657600"/>
          </a:xfrm>
          <a:prstGeom prst="rect">
            <a:avLst/>
          </a:prstGeom>
          <a:solidFill>
            <a:srgbClr val="F5E6EA"/>
          </a:solidFill>
          <a:ln w="12700">
            <a:solidFill>
              <a:srgbClr val="F5E6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256032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60×</a:t>
            </a:r>
            <a:endParaRPr lang="en-US" sz="8600" dirty="0"/>
          </a:p>
        </p:txBody>
      </p:sp>
      <p:sp>
        <p:nvSpPr>
          <p:cNvPr id="24" name="Text 22"/>
          <p:cNvSpPr/>
          <p:nvPr/>
        </p:nvSpPr>
        <p:spPr>
          <a:xfrm>
            <a:off x="8229600" y="4114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29600" y="46634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agente sustituye 1 hora de trabajo humano al día, el ahorro mensual cubre el coste anual de la API.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desarrollo del sistema completo: 4 horas. Infraestructura: $0 / mes (planes gratuitos).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VENTAJAS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esta aproximación gana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" cy="4572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40280"/>
            <a:ext cx="36576" cy="64008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94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0" y="2240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en español. Lo que antes era un sprint de 2 semanas hoy es una sesión.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36576" cy="64008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971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0" y="3017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Céntimos por consulta. El cacheo del corpus divide el coste de input por 10.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36576" cy="64008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749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0" y="3794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cliente/servidor estándar de producción. Sin atajos.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36576" cy="64008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526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0" y="45720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patrón sirve para RRHH, soporte, ventas o legal. Cambia el corpus, no la arquitectura.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349240"/>
            <a:ext cx="36576" cy="64008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3035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Vendor-neutral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57600" y="5349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alternar entre Anthropic, OpenAI o Google según convenga.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CASOS DE USO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Listos para empezar mañana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" cy="4572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94560"/>
            <a:ext cx="3611880" cy="1965960"/>
          </a:xfrm>
          <a:prstGeom prst="rect">
            <a:avLst/>
          </a:prstGeom>
          <a:solidFill>
            <a:srgbClr val="FAFAF7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94560"/>
            <a:ext cx="3611880" cy="73152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7744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al cliente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catálogo, las FAQs y el histórico como corpus.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2194560"/>
            <a:ext cx="3611880" cy="1965960"/>
          </a:xfrm>
          <a:prstGeom prst="rect">
            <a:avLst/>
          </a:prstGeom>
          <a:solidFill>
            <a:srgbClr val="FAFAF7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2194560"/>
            <a:ext cx="3611880" cy="73152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37744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interno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297180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Políticas, procesos, vacaciones, IT. Para empleados.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2194560"/>
            <a:ext cx="3611880" cy="1965960"/>
          </a:xfrm>
          <a:prstGeom prst="rect">
            <a:avLst/>
          </a:prstGeom>
          <a:solidFill>
            <a:srgbClr val="FAFAF7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2194560"/>
            <a:ext cx="3611880" cy="73152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237744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0" y="297180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formativo personalizado para cada nueva incorporación.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297680"/>
            <a:ext cx="3611880" cy="1965960"/>
          </a:xfrm>
          <a:prstGeom prst="rect">
            <a:avLst/>
          </a:prstGeom>
          <a:solidFill>
            <a:srgbClr val="FAFAF7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297680"/>
            <a:ext cx="3611880" cy="73152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48056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de tickets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507492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y enrutado automático con explicación de motivo.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43400" y="4297680"/>
            <a:ext cx="3611880" cy="1965960"/>
          </a:xfrm>
          <a:prstGeom prst="rect">
            <a:avLst/>
          </a:prstGeom>
          <a:solidFill>
            <a:srgbClr val="FAFAF7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4297680"/>
            <a:ext cx="3611880" cy="73152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448056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documentación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26280" y="507492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Manuales técnicos, contratos, regulación, normativa interna.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46720" y="4297680"/>
            <a:ext cx="3611880" cy="1965960"/>
          </a:xfrm>
          <a:prstGeom prst="rect">
            <a:avLst/>
          </a:prstGeom>
          <a:solidFill>
            <a:srgbClr val="FAFAF7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4297680"/>
            <a:ext cx="3611880" cy="73152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448056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comercial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29600" y="507492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Catálogo, precios, condiciones y argumentos en tiempo real.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función con conocimiento documentado es candidata. La diferencia está en QUÉ corpus le damos.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RIESGOS Y MITIGACIÓN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se queda fuera del análisis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" cy="4572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94560"/>
            <a:ext cx="4114800" cy="45720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0" y="2194560"/>
            <a:ext cx="6675120" cy="45720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94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83480" y="2194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4114800" cy="777240"/>
          </a:xfrm>
          <a:prstGeom prst="rect">
            <a:avLst/>
          </a:prstGeom>
          <a:solidFill>
            <a:srgbClr val="FAFA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2651760"/>
            <a:ext cx="6675120" cy="777240"/>
          </a:xfrm>
          <a:prstGeom prst="rect">
            <a:avLst/>
          </a:prstGeom>
          <a:solidFill>
            <a:srgbClr val="FAFA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5176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Alucinaciones del modelo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26517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restringido. El agente solo responde a partir de él y reconoce lo que no sabe.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42900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3429000"/>
            <a:ext cx="6675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4290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Fuga de la API Key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342900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entorno en el servidor. El front nunca la ve. Procedimiento de revocación en 60 segundos.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206240"/>
            <a:ext cx="4114800" cy="777240"/>
          </a:xfrm>
          <a:prstGeom prst="rect">
            <a:avLst/>
          </a:prstGeom>
          <a:solidFill>
            <a:srgbClr val="FAFA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4206240"/>
            <a:ext cx="6675120" cy="777240"/>
          </a:xfrm>
          <a:prstGeom prst="rect">
            <a:avLst/>
          </a:prstGeom>
          <a:solidFill>
            <a:srgbClr val="FAFA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20624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descontrolado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42062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Cacheo del corpus (10× ahorro). Cada llamada devuelve su coste. Alertas de gasto.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98348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4983480"/>
            <a:ext cx="6675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98348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normativo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498348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auditable. Logs de cada consulta. Sin entrenar al modelo con datos privados.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760720"/>
            <a:ext cx="4114800" cy="777240"/>
          </a:xfrm>
          <a:prstGeom prst="rect">
            <a:avLst/>
          </a:prstGeom>
          <a:solidFill>
            <a:srgbClr val="FAFA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5760720"/>
            <a:ext cx="6675120" cy="777240"/>
          </a:xfrm>
          <a:prstGeom prst="rect">
            <a:avLst/>
          </a:prstGeom>
          <a:solidFill>
            <a:srgbClr val="FAFA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76072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 un proveedor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576072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multi-modelo desde el inicio. Cambio de proveedor en horas, no meses.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ROADMAP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PoC interno a plataforma corporativa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" cy="4572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94560"/>
            <a:ext cx="2697480" cy="3291840"/>
          </a:xfrm>
          <a:prstGeom prst="rect">
            <a:avLst/>
          </a:prstGeom>
          <a:solidFill>
            <a:srgbClr val="A31F34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317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4572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37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interno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agéntico completo. Demostrado en directo.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2194560"/>
            <a:ext cx="2697480" cy="3291840"/>
          </a:xfrm>
          <a:prstGeom prst="rect">
            <a:avLst/>
          </a:prstGeom>
          <a:solidFill>
            <a:srgbClr val="F5E6EA"/>
          </a:solidFill>
          <a:ln w="19050">
            <a:solidFill>
              <a:srgbClr val="A31F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23317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11880" y="28803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11880" y="3246120"/>
            <a:ext cx="457200" cy="36576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3337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casos productivos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11880" y="38404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interno + asistente comercial. 12 semanas.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2194560"/>
            <a:ext cx="2697480" cy="3291840"/>
          </a:xfrm>
          <a:prstGeom prst="rect">
            <a:avLst/>
          </a:prstGeom>
          <a:solidFill>
            <a:srgbClr val="FAFA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3317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00800" y="28803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3246120"/>
            <a:ext cx="457200" cy="36576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337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casos + plataforma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0" y="38404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reutilizable de agentes. Onboarding del resto del negocio.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06840" y="2194560"/>
            <a:ext cx="2697480" cy="3291840"/>
          </a:xfrm>
          <a:prstGeom prst="rect">
            <a:avLst/>
          </a:prstGeom>
          <a:solidFill>
            <a:srgbClr val="FAFA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89720" y="23317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9189720" y="28803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89720" y="3246120"/>
            <a:ext cx="457200" cy="36576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9720" y="3337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89720" y="384048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a clientes y colaboradores. Multi-modelo activo.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5669280"/>
            <a:ext cx="10972800" cy="822960"/>
          </a:xfrm>
          <a:prstGeom prst="rect">
            <a:avLst/>
          </a:prstGeom>
          <a:solidFill>
            <a:srgbClr val="FAFA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6692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INICIAL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FTE técnico (3 meses) + ~$500/mes en cloud y APIs durante Q2. </a:t>
            </a:r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Recuperable con un único caso de éxito.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DECISIÓN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pedimos hoy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" cy="4572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94560"/>
            <a:ext cx="10972800" cy="182880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la inversión Q2
</a:t>
            </a:r>
            <a:pPr algn="ctr"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llegar a </a:t>
            </a:r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casos productivos en 90 días</a:t>
            </a:r>
            <a:pPr algn="ctr"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502920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44068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conocimiento y procedimientos validados.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43400" y="429768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343400" y="502920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Barato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43400" y="544068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Centavos por consulta. Sin inversión en infraestructura.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429768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046720" y="502920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46720" y="544068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trimestre de espera es ventaja perdida.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 Ángel Sánchez Rodriguez  ·  internationalcio.github.io/workshopagentes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MIT Professional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Agéntica para la Transformación Empresarial</dc:title>
  <dc:subject>PptxGenJS Presentation</dc:subject>
  <dc:creator>Miguel Ángel Sánchez Rodriguez</dc:creator>
  <cp:lastModifiedBy>Miguel Ángel Sánchez Rodriguez</cp:lastModifiedBy>
  <cp:revision>1</cp:revision>
  <dcterms:created xsi:type="dcterms:W3CDTF">2026-05-15T18:41:36Z</dcterms:created>
  <dcterms:modified xsi:type="dcterms:W3CDTF">2026-05-15T18:41:36Z</dcterms:modified>
</cp:coreProperties>
</file>